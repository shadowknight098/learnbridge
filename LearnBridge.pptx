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chivo Black"/>
      <p:regular r:id="rId201314"/>
    </p:embeddedFont>
    <p:embeddedFont>
      <p:font typeface="Onest"/>
      <p:regular r:id="rId201315"/>
    </p:embeddedFont>
    <p:embeddedFont>
      <p:font typeface="Onest Medium"/>
      <p:regular r:id="rId201316"/>
    </p:embeddedFont>
    <p:embeddedFont>
      <p:font typeface="Onest SemiBold"/>
      <p:regular r:id="rId201317"/>
    </p:embeddedFont>
    <p:embeddedFont>
      <p:font typeface="One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LearnBridge: an AI-driven, multilingual foundational learning platform built for rural and government classrooms across India. Emphasize that it is designed to run at zero recurring infrastructure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acute learning gap: teachers cannot differentiate for 50 learners, mother tongue disconnect amplifies learning loss, and commercial EdTech fails rural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steps. Emphasize that teachers remain 100% in control via the approval gate before any AI-generated question reaches a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mathematical formula: it is deterministic and verifiable. Explain how the scaffolding protects struggling learners from frustration while spacing preserves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the live interface. Point out the Telugu localization, audio read-aloud support, high-contrast touch buttons, and the anti-guessing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technical and regulatory reviewers: zero child PII leaves the school network, bundle size is micro-optimized for 2GB RAM devices, and 3G latency stays sub-300ms.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proof of delivery: every single planned task across all 8 development phases is fully engineered, integrated, and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policy alignment: NIPUN Bharat, NEP 2020 mother tongue instruction, open curriculum compatibility, and closing the gap between government and private schools.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995487"/>
            <a:ext cx="3841257" cy="362645"/>
          </a:xfrm>
          <a:prstGeom prst="roundRect">
            <a:avLst>
              <a:gd name="adj" fmla="val 49999"/>
            </a:avLst>
          </a:prstGeom>
          <a:solidFill>
            <a:srgbClr val="7A3CFF"/>
          </a:solidFill>
          <a:ln/>
        </p:spPr>
      </p:sp>
      <p:sp>
        <p:nvSpPr>
          <p:cNvPr id="3" name="Text 1"/>
          <p:cNvSpPr/>
          <p:nvPr/>
        </p:nvSpPr>
        <p:spPr>
          <a:xfrm>
            <a:off x="790853" y="2091460"/>
            <a:ext cx="4088306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AI-powered multilingual adaptive learning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2585525"/>
            <a:ext cx="11023324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LearnBridge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3455094"/>
            <a:ext cx="1102332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Foundational literacy and numeracy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3963095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Bridging the learning gap in India's classrooms, in every child's mother tongue.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4443115"/>
            <a:ext cx="3572778" cy="552648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8" name="Text 6"/>
          <p:cNvSpPr/>
          <p:nvPr/>
        </p:nvSpPr>
        <p:spPr>
          <a:xfrm>
            <a:off x="790853" y="4539087"/>
            <a:ext cx="3210242" cy="3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Aligned with NEP 2020 and NIPUN Bharat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4759" y="4443115"/>
            <a:ext cx="2242982" cy="362645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10" name="Text 8"/>
          <p:cNvSpPr/>
          <p:nvPr/>
        </p:nvSpPr>
        <p:spPr>
          <a:xfrm>
            <a:off x="4516027" y="4539087"/>
            <a:ext cx="249003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Telugu · Hindi · English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0032" y="4443115"/>
            <a:ext cx="2242982" cy="362645"/>
          </a:xfrm>
          <a:prstGeom prst="roundRect">
            <a:avLst>
              <a:gd name="adj" fmla="val 49999"/>
            </a:avLst>
          </a:prstGeom>
          <a:solidFill>
            <a:srgbClr val="FF3E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41300" y="4539087"/>
            <a:ext cx="249003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Zero-cost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35464" y="466527"/>
            <a:ext cx="2311640" cy="362645"/>
          </a:xfrm>
          <a:prstGeom prst="roundRect">
            <a:avLst>
              <a:gd name="adj" fmla="val 49999"/>
            </a:avLst>
          </a:prstGeom>
          <a:solidFill>
            <a:srgbClr val="FF3E8A"/>
          </a:solidFill>
          <a:ln/>
        </p:spPr>
      </p:sp>
      <p:sp>
        <p:nvSpPr>
          <p:cNvPr id="4" name="Text 1"/>
          <p:cNvSpPr/>
          <p:nvPr/>
        </p:nvSpPr>
        <p:spPr>
          <a:xfrm>
            <a:off x="5616732" y="562499"/>
            <a:ext cx="2558688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The Foundational Crisis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35464" y="1002653"/>
            <a:ext cx="6146646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Classrooms are diverse, teachers are overwhelmed, language is a barrier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35464" y="2930227"/>
            <a:ext cx="28447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Learning variance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35464" y="3388221"/>
            <a:ext cx="28447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 a class of 40–60, reading and math skills span 3+ grade levels.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37381" y="2930227"/>
            <a:ext cx="28447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Language divide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37381" y="3388221"/>
            <a:ext cx="284472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School language often differs from the language spoken at home.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35464" y="4597499"/>
            <a:ext cx="28447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Teacher bandwidth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35464" y="5055493"/>
            <a:ext cx="28447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No hours to curate daily practice for 50 skill profiles.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7381" y="4597499"/>
            <a:ext cx="28447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EdTech cost paradox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737381" y="5055493"/>
            <a:ext cx="28447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Costly devices, bandwidth and recurring licenses.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35464" y="5730974"/>
            <a:ext cx="61466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Over 50%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of Grade 5 students in rural government schools struggle with Grade 2 numeracy.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502437" y="2924671"/>
            <a:ext cx="12700" cy="1438672"/>
          </a:xfrm>
          <a:prstGeom prst="rect">
            <a:avLst/>
          </a:prstGeom>
          <a:solidFill>
            <a:srgbClr val="E4E2E8"/>
          </a:solidFill>
          <a:ln/>
        </p:spPr>
      </p:sp>
      <p:sp>
        <p:nvSpPr>
          <p:cNvPr id="16" name="Shape 13"/>
          <p:cNvSpPr/>
          <p:nvPr/>
        </p:nvSpPr>
        <p:spPr>
          <a:xfrm>
            <a:off x="5435464" y="4356993"/>
            <a:ext cx="3073323" cy="12700"/>
          </a:xfrm>
          <a:prstGeom prst="rect">
            <a:avLst/>
          </a:prstGeom>
          <a:solidFill>
            <a:srgbClr val="E4E2E8"/>
          </a:solidFill>
          <a:ln/>
        </p:spPr>
      </p:sp>
      <p:sp>
        <p:nvSpPr>
          <p:cNvPr id="17" name="Shape 14"/>
          <p:cNvSpPr/>
          <p:nvPr/>
        </p:nvSpPr>
        <p:spPr>
          <a:xfrm>
            <a:off x="8502437" y="4363343"/>
            <a:ext cx="12700" cy="1189831"/>
          </a:xfrm>
          <a:prstGeom prst="rect">
            <a:avLst/>
          </a:prstGeom>
          <a:solidFill>
            <a:srgbClr val="E4E2E8"/>
          </a:solidFill>
          <a:ln/>
        </p:spPr>
      </p:sp>
      <p:sp>
        <p:nvSpPr>
          <p:cNvPr id="18" name="Shape 15"/>
          <p:cNvSpPr/>
          <p:nvPr/>
        </p:nvSpPr>
        <p:spPr>
          <a:xfrm>
            <a:off x="8508787" y="4356993"/>
            <a:ext cx="3073323" cy="12700"/>
          </a:xfrm>
          <a:prstGeom prst="rect">
            <a:avLst/>
          </a:prstGeom>
          <a:solidFill>
            <a:srgbClr val="E4E2E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57200"/>
            <a:ext cx="1606609" cy="362645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3" name="Text 1"/>
          <p:cNvSpPr/>
          <p:nvPr/>
        </p:nvSpPr>
        <p:spPr>
          <a:xfrm>
            <a:off x="638457" y="553172"/>
            <a:ext cx="1853658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Core Workflow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189" y="999549"/>
            <a:ext cx="1127731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Differentiated practice with zero teacher burnout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189" y="3149997"/>
            <a:ext cx="850978" cy="731441"/>
          </a:xfrm>
          <a:prstGeom prst="ellipse">
            <a:avLst/>
          </a:prstGeom>
          <a:solidFill>
            <a:srgbClr val="7A3CFF"/>
          </a:solidFill>
          <a:ln/>
        </p:spPr>
      </p:sp>
      <p:sp>
        <p:nvSpPr>
          <p:cNvPr id="6" name="Text 4"/>
          <p:cNvSpPr/>
          <p:nvPr/>
        </p:nvSpPr>
        <p:spPr>
          <a:xfrm>
            <a:off x="619705" y="3312517"/>
            <a:ext cx="113553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F4F2F7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189" y="3967857"/>
            <a:ext cx="3454314" cy="38100"/>
          </a:xfrm>
          <a:prstGeom prst="rect">
            <a:avLst/>
          </a:prstGeom>
          <a:solidFill>
            <a:srgbClr val="7A3CFF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4188520"/>
            <a:ext cx="34543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Upload textbook PDF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189" y="4726682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AI drafts graded, curriculum-tagged questions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68691" y="3149997"/>
            <a:ext cx="850978" cy="731441"/>
          </a:xfrm>
          <a:prstGeom prst="ellipse">
            <a:avLst/>
          </a:prstGeom>
          <a:solidFill>
            <a:srgbClr val="7A3CFF"/>
          </a:solidFill>
          <a:ln/>
        </p:spPr>
      </p:sp>
      <p:sp>
        <p:nvSpPr>
          <p:cNvPr id="11" name="Text 9"/>
          <p:cNvSpPr/>
          <p:nvPr/>
        </p:nvSpPr>
        <p:spPr>
          <a:xfrm>
            <a:off x="4531207" y="3312517"/>
            <a:ext cx="113553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F4F2F7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02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368691" y="3967857"/>
            <a:ext cx="3454314" cy="38100"/>
          </a:xfrm>
          <a:prstGeom prst="rect">
            <a:avLst/>
          </a:prstGeom>
          <a:solidFill>
            <a:srgbClr val="7A3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68691" y="4188520"/>
            <a:ext cx="34543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Approve questions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68691" y="4726682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100% human-in-the-loop, nothing reaches children unreviewed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80193" y="3149997"/>
            <a:ext cx="850978" cy="731441"/>
          </a:xfrm>
          <a:prstGeom prst="ellipse">
            <a:avLst/>
          </a:prstGeom>
          <a:solidFill>
            <a:srgbClr val="7A3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42709" y="3312517"/>
            <a:ext cx="113553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F4F2F7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03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280193" y="3967857"/>
            <a:ext cx="3454314" cy="38100"/>
          </a:xfrm>
          <a:prstGeom prst="rect">
            <a:avLst/>
          </a:prstGeom>
          <a:solidFill>
            <a:srgbClr val="7A3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80193" y="4188520"/>
            <a:ext cx="34543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Adaptive practice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80193" y="4726682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 the student's mother tongue, with voice read-aloud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6508"/>
            <a:ext cx="112773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72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From textbook PDF to student practice at zero infrastructure cost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384" y="1574800"/>
            <a:ext cx="5300927" cy="2285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03431" y="1835428"/>
            <a:ext cx="2915092" cy="16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Teacher uploads PDF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03431" y="2365518"/>
            <a:ext cx="2915092" cy="16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Client-side OCR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03431" y="2890307"/>
            <a:ext cx="2915092" cy="16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LLM generation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03431" y="3415096"/>
            <a:ext cx="2915092" cy="16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Teacher review gate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189" y="4063901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Approved bilingual question bank → adaptive engine → student PWA with offline cache.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189" y="4569321"/>
            <a:ext cx="5486263" cy="1700411"/>
          </a:xfrm>
          <a:prstGeom prst="roundRect">
            <a:avLst>
              <a:gd name="adj" fmla="val 11427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083" y="4739977"/>
            <a:ext cx="50544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Client-side OCR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3083" y="5197971"/>
            <a:ext cx="50544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OCR runs in the teacher's browser (pdf.js, tesseract.js); no server compute.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8244" y="4569321"/>
            <a:ext cx="5486263" cy="1700411"/>
          </a:xfrm>
          <a:prstGeom prst="roundRect">
            <a:avLst>
              <a:gd name="adj" fmla="val 11427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138" y="4739977"/>
            <a:ext cx="50544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Strict JSON schema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64138" y="5197971"/>
            <a:ext cx="50544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LLM generation with Gemini or Ollama. Maps skills (NUM-01..10, LIT-01..08) and translations via concept_id.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57200"/>
            <a:ext cx="1723982" cy="362645"/>
          </a:xfrm>
          <a:prstGeom prst="roundRect">
            <a:avLst>
              <a:gd name="adj" fmla="val 49999"/>
            </a:avLst>
          </a:prstGeom>
          <a:solidFill>
            <a:srgbClr val="7A3CFF"/>
          </a:solidFill>
          <a:ln/>
        </p:spPr>
      </p:sp>
      <p:sp>
        <p:nvSpPr>
          <p:cNvPr id="3" name="Text 1"/>
          <p:cNvSpPr/>
          <p:nvPr/>
        </p:nvSpPr>
        <p:spPr>
          <a:xfrm>
            <a:off x="638457" y="553172"/>
            <a:ext cx="1971030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Adaptive Engine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189" y="999549"/>
            <a:ext cx="1127731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Transparent rule-based mastery with dynamic difficulty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189" y="2305745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 deterministic, explainable mathematical model replaces black-box algorithms.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898477"/>
            <a:ext cx="11277318" cy="13718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189" y="4560888"/>
            <a:ext cx="3555911" cy="1839913"/>
          </a:xfrm>
          <a:prstGeom prst="roundRect">
            <a:avLst>
              <a:gd name="adj" fmla="val 10561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3083" y="4756944"/>
            <a:ext cx="312412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Diagnostic &amp; Update Rule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3083" y="5214938"/>
            <a:ext cx="312412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Baseline set via 8 diagnostic questions. Correct: </a:t>
            </a:r>
            <a:pPr algn="l" indent="0" marL="0">
              <a:lnSpc>
                <a:spcPct val="117000"/>
              </a:lnSpc>
              <a:buNone/>
            </a:pPr>
            <a:r>
              <a:rPr lang="en-US" sz="1350" i="1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       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. Incorrect: </a:t>
            </a:r>
            <a:pPr algn="l" indent="0" marL="0">
              <a:lnSpc>
                <a:spcPct val="117000"/>
              </a:lnSpc>
              <a:buNone/>
            </a:pPr>
            <a:r>
              <a:rPr lang="en-US" sz="1350" i="1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     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, where </a:t>
            </a:r>
            <a:pPr algn="l" indent="0" marL="0">
              <a:lnSpc>
                <a:spcPct val="117000"/>
              </a:lnSpc>
              <a:buNone/>
            </a:pPr>
            <a:r>
              <a:rPr lang="en-US" sz="1350" i="1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           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11" y="5482828"/>
            <a:ext cx="1111421" cy="22115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291" y="5731669"/>
            <a:ext cx="802660" cy="221159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83" y="5980509"/>
            <a:ext cx="1745809" cy="22115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17892" y="4560888"/>
            <a:ext cx="3555911" cy="1839913"/>
          </a:xfrm>
          <a:prstGeom prst="roundRect">
            <a:avLst>
              <a:gd name="adj" fmla="val 10561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33787" y="4756944"/>
            <a:ext cx="312412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Smart Fallback Scaffolding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33787" y="5214938"/>
            <a:ext cx="312412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3 consecutive wrong answers automatically triggers easier scaffolding with visual aids and audio explanations.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178595" y="4560888"/>
            <a:ext cx="3555911" cy="1839913"/>
          </a:xfrm>
          <a:prstGeom prst="roundRect">
            <a:avLst>
              <a:gd name="adj" fmla="val 10561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394490" y="4756944"/>
            <a:ext cx="312412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Anti-Fatigue Spacing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8394490" y="5214938"/>
            <a:ext cx="312412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No question repeats within 7 days, ensuring broad concept coverage and preventing rote memorization.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380827"/>
            <a:ext cx="2217285" cy="362645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3" name="Text 1"/>
          <p:cNvSpPr/>
          <p:nvPr/>
        </p:nvSpPr>
        <p:spPr>
          <a:xfrm>
            <a:off x="790853" y="1476800"/>
            <a:ext cx="2464334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Child-First Experience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916954"/>
            <a:ext cx="599425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Built for Grades 3–5 on low-end devices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975372"/>
            <a:ext cx="5994250" cy="858441"/>
          </a:xfrm>
          <a:prstGeom prst="roundRect">
            <a:avLst>
              <a:gd name="adj" fmla="val 22635"/>
            </a:avLst>
          </a:prstGeom>
          <a:solidFill>
            <a:srgbClr val="F4F2F7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102372"/>
            <a:ext cx="563865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One question per screen; touch targets of 56px or more. Read-aloud on every question and answer.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986213"/>
            <a:ext cx="5994250" cy="858441"/>
          </a:xfrm>
          <a:prstGeom prst="roundRect">
            <a:avLst>
              <a:gd name="adj" fmla="val 22635"/>
            </a:avLst>
          </a:prstGeom>
          <a:solidFill>
            <a:srgbClr val="F4F2F7"/>
          </a:solidFill>
          <a:ln/>
        </p:spPr>
      </p:sp>
      <p:sp>
        <p:nvSpPr>
          <p:cNvPr id="8" name="Text 6"/>
          <p:cNvSpPr/>
          <p:nvPr/>
        </p:nvSpPr>
        <p:spPr>
          <a:xfrm>
            <a:off x="787380" y="4113213"/>
            <a:ext cx="563865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XP rewards effort and persistence; avatars and badges. Answers under 1.5 seconds earn 0 XP.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4997053"/>
            <a:ext cx="5994250" cy="556220"/>
          </a:xfrm>
          <a:prstGeom prst="roundRect">
            <a:avLst>
              <a:gd name="adj" fmla="val 34933"/>
            </a:avLst>
          </a:prstGeom>
          <a:solidFill>
            <a:srgbClr val="F4F2F7"/>
          </a:solidFill>
          <a:ln/>
        </p:spPr>
      </p:sp>
      <p:sp>
        <p:nvSpPr>
          <p:cNvPr id="10" name="Text 8"/>
          <p:cNvSpPr/>
          <p:nvPr/>
        </p:nvSpPr>
        <p:spPr>
          <a:xfrm>
            <a:off x="787380" y="5124053"/>
            <a:ext cx="58164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Daily cap with a calm “mascot resting” screen.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26100" y="698401"/>
            <a:ext cx="3047825" cy="54608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55930" dist="227330" dir="5400000">
              <a:srgbClr val="14141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54694" y="1079401"/>
            <a:ext cx="1580614" cy="383877"/>
          </a:xfrm>
          <a:prstGeom prst="roundRect">
            <a:avLst>
              <a:gd name="adj" fmla="val 49999"/>
            </a:avLst>
          </a:prstGeom>
          <a:solidFill>
            <a:srgbClr val="7A3CFF"/>
          </a:solidFill>
          <a:ln/>
        </p:spPr>
      </p:sp>
      <p:sp>
        <p:nvSpPr>
          <p:cNvPr id="14" name="Text 11"/>
          <p:cNvSpPr/>
          <p:nvPr/>
        </p:nvSpPr>
        <p:spPr>
          <a:xfrm>
            <a:off x="8446678" y="1182403"/>
            <a:ext cx="1806232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spc="14" kern="100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తెలుగు · MATH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54694" y="1593771"/>
            <a:ext cx="320022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0"/>
              </a:rPr>
              <a:t>ప్రశ్న 3 / 8 · Basic Addition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4694" y="1881088"/>
            <a:ext cx="2590636" cy="998835"/>
          </a:xfrm>
          <a:prstGeom prst="roundRect">
            <a:avLst>
              <a:gd name="adj" fmla="val 20597"/>
            </a:avLst>
          </a:prstGeom>
          <a:solidFill>
            <a:srgbClr val="F4F2F7"/>
          </a:solidFill>
          <a:ln/>
        </p:spPr>
      </p:sp>
      <p:sp>
        <p:nvSpPr>
          <p:cNvPr id="17" name="Text 14"/>
          <p:cNvSpPr/>
          <p:nvPr/>
        </p:nvSpPr>
        <p:spPr>
          <a:xfrm>
            <a:off x="8407090" y="2039838"/>
            <a:ext cx="228584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5 + 3 = ?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407090" y="2516406"/>
            <a:ext cx="243824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🔊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nest Medium" pitchFamily="34" charset="0"/>
                <a:ea typeface="Onest Medium" pitchFamily="34" charset="-122"/>
                <a:cs typeface="Onest Medium" pitchFamily="34" charset="0"/>
              </a:rPr>
              <a:t> బొమ్మలను లెక్కించండి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254694" y="3006923"/>
            <a:ext cx="1219070" cy="513060"/>
          </a:xfrm>
          <a:prstGeom prst="roundRect">
            <a:avLst>
              <a:gd name="adj" fmla="val 40099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00781" y="3121223"/>
            <a:ext cx="67298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26161" y="3006923"/>
            <a:ext cx="1219170" cy="513060"/>
          </a:xfrm>
          <a:prstGeom prst="roundRect">
            <a:avLst>
              <a:gd name="adj" fmla="val 40099"/>
            </a:avLst>
          </a:prstGeom>
          <a:solidFill>
            <a:srgbClr val="B6F03C"/>
          </a:solidFill>
          <a:ln/>
        </p:spPr>
      </p:sp>
      <p:sp>
        <p:nvSpPr>
          <p:cNvPr id="22" name="Text 19"/>
          <p:cNvSpPr/>
          <p:nvPr/>
        </p:nvSpPr>
        <p:spPr>
          <a:xfrm>
            <a:off x="10034237" y="3108523"/>
            <a:ext cx="8110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8 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54694" y="3596184"/>
            <a:ext cx="1219070" cy="513060"/>
          </a:xfrm>
          <a:prstGeom prst="roundRect">
            <a:avLst>
              <a:gd name="adj" fmla="val 40099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12190" y="3710484"/>
            <a:ext cx="6615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7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26161" y="3596184"/>
            <a:ext cx="1219170" cy="513060"/>
          </a:xfrm>
          <a:prstGeom prst="roundRect">
            <a:avLst>
              <a:gd name="adj" fmla="val 40099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172644" y="3710484"/>
            <a:ext cx="67268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9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54694" y="4236244"/>
            <a:ext cx="2590636" cy="584994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28" name="Text 25"/>
          <p:cNvSpPr/>
          <p:nvPr/>
        </p:nvSpPr>
        <p:spPr>
          <a:xfrm>
            <a:off x="8446678" y="4339246"/>
            <a:ext cx="2206669" cy="402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+10 XP · Persistent Streak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4030"/>
            <a:ext cx="1127731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From data to timely intervention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1425"/>
            <a:ext cx="5486263" cy="1327745"/>
          </a:xfrm>
          <a:prstGeom prst="roundRect">
            <a:avLst>
              <a:gd name="adj" fmla="val 14634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8483" y="1487487"/>
            <a:ext cx="50036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Skill × student mastery heatmap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48244" y="1241425"/>
            <a:ext cx="5486263" cy="1327745"/>
          </a:xfrm>
          <a:prstGeom prst="roundRect">
            <a:avLst>
              <a:gd name="adj" fmla="val 14634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89538" y="1487487"/>
            <a:ext cx="50036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At-risk alerts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89538" y="2025650"/>
            <a:ext cx="524496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Falling behind, random clicking, inactive 5+ days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189" y="2873970"/>
            <a:ext cx="5486263" cy="1629966"/>
          </a:xfrm>
          <a:prstGeom prst="roundRect">
            <a:avLst>
              <a:gd name="adj" fmla="val 11921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483" y="3120033"/>
            <a:ext cx="50036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One-click remedial sets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8483" y="3658195"/>
            <a:ext cx="524496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For a class or one learner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873970"/>
            <a:ext cx="5486263" cy="1629966"/>
          </a:xfrm>
          <a:prstGeom prst="roundRect">
            <a:avLst>
              <a:gd name="adj" fmla="val 11921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9538" y="3120033"/>
            <a:ext cx="50036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Roles &amp; data isolation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89538" y="3658195"/>
            <a:ext cx="500367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District/Admin, Teacher, Student roles with multi-tenant data isolation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57200"/>
            <a:ext cx="2321859" cy="362645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3" name="Text 1"/>
          <p:cNvSpPr/>
          <p:nvPr/>
        </p:nvSpPr>
        <p:spPr>
          <a:xfrm>
            <a:off x="638457" y="553172"/>
            <a:ext cx="2568908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spc="14" kern="1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Production Engineering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189" y="999549"/>
            <a:ext cx="1127731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High performance on 3G and budget devices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189" y="2305745"/>
            <a:ext cx="3555911" cy="3375422"/>
          </a:xfrm>
          <a:prstGeom prst="roundRect">
            <a:avLst>
              <a:gd name="adj" fmla="val 5756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82" y="2551807"/>
            <a:ext cx="302252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Client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3882" y="3089970"/>
            <a:ext cx="30225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Next.js, Tailwind, Framer Motion, Recharts, PWA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3882" y="3880148"/>
            <a:ext cx="3022425" cy="31651"/>
          </a:xfrm>
          <a:prstGeom prst="roundRect">
            <a:avLst>
              <a:gd name="adj" fmla="val 49998"/>
            </a:avLst>
          </a:prstGeom>
          <a:solidFill>
            <a:srgbClr val="E4E2E8"/>
          </a:solidFill>
          <a:ln/>
        </p:spPr>
      </p:sp>
      <p:sp>
        <p:nvSpPr>
          <p:cNvPr id="9" name="Text 7"/>
          <p:cNvSpPr/>
          <p:nvPr/>
        </p:nvSpPr>
        <p:spPr>
          <a:xfrm>
            <a:off x="723882" y="4097635"/>
            <a:ext cx="30225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Bundle under 1.5MB for 2GB RAM phones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17892" y="2305745"/>
            <a:ext cx="3555911" cy="3375422"/>
          </a:xfrm>
          <a:prstGeom prst="roundRect">
            <a:avLst>
              <a:gd name="adj" fmla="val 5756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4585" y="2551807"/>
            <a:ext cx="302252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Backend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84585" y="3089970"/>
            <a:ext cx="3022524" cy="1342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FastAPI, SQLAlchemy, Pydantic, Argon2 and JWT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PostgreSQL with row-level security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84585" y="4617938"/>
            <a:ext cx="3022425" cy="31651"/>
          </a:xfrm>
          <a:prstGeom prst="roundRect">
            <a:avLst>
              <a:gd name="adj" fmla="val 49998"/>
            </a:avLst>
          </a:prstGeom>
          <a:solidFill>
            <a:srgbClr val="E4E2E8"/>
          </a:solidFill>
          <a:ln/>
        </p:spPr>
      </p:sp>
      <p:sp>
        <p:nvSpPr>
          <p:cNvPr id="14" name="Text 12"/>
          <p:cNvSpPr/>
          <p:nvPr/>
        </p:nvSpPr>
        <p:spPr>
          <a:xfrm>
            <a:off x="4584585" y="4835426"/>
            <a:ext cx="30225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Under 300ms question delivery on 3G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78595" y="2305745"/>
            <a:ext cx="3555911" cy="3375422"/>
          </a:xfrm>
          <a:prstGeom prst="roundRect">
            <a:avLst>
              <a:gd name="adj" fmla="val 5756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5289" y="2551807"/>
            <a:ext cx="302252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45289" y="3089970"/>
            <a:ext cx="30225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Gemini API with local Ollama fallback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45289" y="3880148"/>
            <a:ext cx="3022425" cy="31651"/>
          </a:xfrm>
          <a:prstGeom prst="roundRect">
            <a:avLst>
              <a:gd name="adj" fmla="val 49998"/>
            </a:avLst>
          </a:prstGeom>
          <a:solidFill>
            <a:srgbClr val="E4E2E8"/>
          </a:solidFill>
          <a:ln/>
        </p:spPr>
      </p:sp>
      <p:sp>
        <p:nvSpPr>
          <p:cNvPr id="19" name="Text 17"/>
          <p:cNvSpPr/>
          <p:nvPr/>
        </p:nvSpPr>
        <p:spPr>
          <a:xfrm>
            <a:off x="8445289" y="4097635"/>
            <a:ext cx="30225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No child PII sent to external AI APIs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4030"/>
            <a:ext cx="1127731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Fully implemented: 60 of 60 tasks complete</a:t>
            </a:r>
            <a:endParaRPr lang="en-US" sz="4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800225"/>
          <a:ext cx="11277318" cy="914400"/>
        </p:xfrm>
        <a:graphic>
          <a:graphicData uri="http://schemas.openxmlformats.org/drawingml/2006/table">
            <a:tbl>
              <a:tblPr/>
              <a:tblGrid>
                <a:gridCol w="1127692"/>
                <a:gridCol w="2481002"/>
                <a:gridCol w="7668624"/>
              </a:tblGrid>
              <a:tr h="695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Phases 0–1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skeleton, Docker, PostgreSQL, bilingual seed bank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 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FastAPI core, student PIN auth, 3-tier RBAC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 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adaptive engine, rewards, anti-cheat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 4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practice APIs, diagnostics, avatar shop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 5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PDF chunking, Gemini, teacher review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Phase 6; Phases 7–8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heatmaps, reports, alerts, CSV export; Next.js apps, integration tests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10" y="2072580"/>
            <a:ext cx="269868" cy="2698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10" y="2767806"/>
            <a:ext cx="269868" cy="2698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0" y="3463032"/>
            <a:ext cx="269868" cy="2698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10" y="4158258"/>
            <a:ext cx="269868" cy="2698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10" y="4853484"/>
            <a:ext cx="269868" cy="26987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10" y="5548709"/>
            <a:ext cx="269868" cy="269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11781"/>
            <a:ext cx="640064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Grounded in national priorities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189" y="2070199"/>
            <a:ext cx="3047825" cy="1751211"/>
          </a:xfrm>
          <a:prstGeom prst="roundRect">
            <a:avLst>
              <a:gd name="adj" fmla="val 11095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3083" y="2266255"/>
            <a:ext cx="261603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NIPUN Bharat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73083" y="2724249"/>
            <a:ext cx="261603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Universal FLN for Grade 3–5.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09805" y="2070199"/>
            <a:ext cx="3047924" cy="1751211"/>
          </a:xfrm>
          <a:prstGeom prst="roundRect">
            <a:avLst>
              <a:gd name="adj" fmla="val 11095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5700" y="2266255"/>
            <a:ext cx="261613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NEP 2020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25700" y="2724249"/>
            <a:ext cx="261613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Mother-tongue instruction in Telugu and Hindi.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189" y="4126210"/>
            <a:ext cx="3047825" cy="1750616"/>
          </a:xfrm>
          <a:prstGeom prst="roundRect">
            <a:avLst>
              <a:gd name="adj" fmla="val 11099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83" y="4322266"/>
            <a:ext cx="2616035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DIKSHA/open resources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3083" y="5081885"/>
            <a:ext cx="261603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SCERT/NCERT textbooks via PDF ingestion.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09805" y="4126210"/>
            <a:ext cx="3047924" cy="1750616"/>
          </a:xfrm>
          <a:prstGeom prst="roundRect">
            <a:avLst>
              <a:gd name="adj" fmla="val 11099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5700" y="4322266"/>
            <a:ext cx="261613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Equity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025700" y="4780260"/>
            <a:ext cx="261613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Closes the gap with well-funded private schools.</a:t>
            </a:r>
            <a:endParaRPr lang="en-US" sz="1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2026-10-23T05:51:58Z</dcterms:created>
  <dcterms:modified xsi:type="dcterms:W3CDTF">2026-10-23T05:51:58Z</dcterms:modified>
</cp:coreProperties>
</file>